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微软雅黑"/>
              </a:defRPr>
            </a:pPr>
            <a:r>
              <a:t>医工交叉合作调研报告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E86DE"/>
                </a:solidFill>
                <a:latin typeface="微软雅黑"/>
              </a:defRPr>
            </a:pPr>
            <a:r>
              <a:t>基于路瑾教授学术背景与合作可行性分析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3200400"/>
            <a:ext cx="8229600" cy="2286000"/>
          </a:xfrm>
          <a:prstGeom prst="rect">
            <a:avLst/>
          </a:prstGeom>
          <a:solidFill>
            <a:srgbClr val="22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0" y="3383280"/>
            <a:ext cx="7772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6E4F0"/>
                </a:solidFill>
                <a:latin typeface="微软雅黑"/>
              </a:defRPr>
            </a:pPr>
            <a:r>
              <a:t>研究对象：北京大学人民医院 血液科 路瑾 教授/主任医师/博导</a:t>
            </a:r>
            <a:br/>
            <a:br/>
            <a:r>
              <a:t>核心领域：多发性骨髓瘤 | 原发系统性淀粉样变性 | 浆细胞疾病 | CAR-T细胞免疫治疗</a:t>
            </a:r>
            <a:br/>
            <a:br/>
            <a:r>
              <a:t>报告产出：论文汇总 (1.xlsx) + AI前沿追踪 (2.xlsx) + 课题建议 (out.pptx)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5943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5A5B6"/>
                </a:solidFill>
                <a:latin typeface="微软雅黑"/>
              </a:defRPr>
            </a:pPr>
            <a:r>
              <a:t>生成日期：2026-05-12  |  学术顾问：AI医工交叉科研顾问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路瑾教授 · 学术画像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5029200" cy="45720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身份与职务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6E4F0"/>
                </a:solidFill>
                <a:latin typeface="微软雅黑"/>
              </a:defRPr>
            </a:pPr>
            <a:r>
              <a:t>• 北大人民医院血液科副主任、骨髓瘤-淋巴瘤病区主任</a:t>
            </a:r>
            <a:br/>
            <a:r>
              <a:t>• 中国医师协会血液科医师分会 副会长</a:t>
            </a:r>
            <a:br/>
            <a:r>
              <a:t>• 北京医师协会血液医师分会 会长</a:t>
            </a:r>
            <a:br/>
            <a:r>
              <a:t>• 中华医学会血液学分会 浆细胞学组 副组长</a:t>
            </a:r>
            <a:br/>
            <a:r>
              <a:t>• 国际骨髓瘤工作组(IMWG)委员</a:t>
            </a:r>
            <a:br/>
            <a:r>
              <a:t>• 亚太骨髓瘤工作组(APMG)委员</a:t>
            </a:r>
            <a:br/>
            <a:r>
              <a:t>• 国内多部浆细胞疾病指南主要执笔者</a:t>
            </a:r>
            <a:br/>
            <a:r>
              <a:t>• 主持国自然5项（含重点项目1项）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0352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学术产出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6E4F0"/>
                </a:solidFill>
                <a:latin typeface="微软雅黑"/>
              </a:defRPr>
            </a:pPr>
            <a:r>
              <a:t>• 发表论文 100+ 篇（近5年约32篇）</a:t>
            </a:r>
            <a:br/>
            <a:r>
              <a:t>• 顶级期刊：NEJM, JCO, Leukemia, Nat Commun,</a:t>
            </a:r>
            <a:br/>
            <a:r>
              <a:t>   Science Bulletin, Mol Cell, Clin Transl Med</a:t>
            </a:r>
            <a:br/>
            <a:r>
              <a:t>• 主编/参编专著 26 部</a:t>
            </a:r>
            <a:br/>
            <a:r>
              <a:t>• 负责国内及国际多中心试验 30+ 项</a:t>
            </a:r>
            <a:br/>
            <a:r>
              <a:t>• 建立亚太骨髓瘤注册数据库 APAC MRDR</a:t>
            </a:r>
            <a:br/>
            <a:r>
              <a:t>• 已开始ML辅助AL淀粉样变性诊断研究</a:t>
            </a:r>
            <a:br/>
            <a:r>
              <a:t>   (Ann Hematol, 2024 — ★AI交叉先行者★)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029200"/>
            <a:ext cx="10972800" cy="4572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技术关键词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6E4F0"/>
                </a:solidFill>
                <a:latin typeface="微软雅黑"/>
              </a:defRPr>
            </a:pPr>
            <a:r>
              <a:t>多发性骨髓瘤  ·  系统性淀粉样变性  ·  浆细胞白血病  ·  CAR-T细胞治疗  ·  BCMA靶向治疗  ·  BCL-2抑制剂  ·  自体干细胞移植  ·  FISH细胞遗传学  ·  真实世界研究  ·  APAC MRDR数据库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近5年论文统计（2021-2026）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2651760" cy="1005840"/>
          </a:xfrm>
          <a:prstGeom prst="roundRect">
            <a:avLst/>
          </a:prstGeom>
          <a:solidFill>
            <a:srgbClr val="22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6E4F0"/>
                </a:solidFill>
                <a:latin typeface="微软雅黑"/>
              </a:defRPr>
            </a:pPr>
            <a:r>
              <a:t>检索总量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E86DE"/>
                </a:solidFill>
                <a:latin typeface="微软雅黑"/>
              </a:defRPr>
            </a:pPr>
            <a:r>
              <a:t>32篇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B6"/>
                </a:solidFill>
                <a:latin typeface="微软雅黑"/>
              </a:defRPr>
            </a:pPr>
            <a:r>
              <a:t>含NEJM/JCO/Leukemia等顶刊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097280"/>
            <a:ext cx="2651760" cy="1005840"/>
          </a:xfrm>
          <a:prstGeom prst="roundRect">
            <a:avLst/>
          </a:prstGeom>
          <a:solidFill>
            <a:srgbClr val="22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6E4F0"/>
                </a:solidFill>
                <a:latin typeface="微软雅黑"/>
              </a:defRPr>
            </a:pPr>
            <a:r>
              <a:t>通讯/第一作者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2344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7AE60"/>
                </a:solidFill>
                <a:latin typeface="微软雅黑"/>
              </a:defRPr>
            </a:pPr>
            <a:r>
              <a:t>26篇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1945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B6"/>
                </a:solidFill>
                <a:latin typeface="微软雅黑"/>
              </a:defRPr>
            </a:pPr>
            <a:r>
              <a:t>占比81%，体现主导地位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2651760" cy="1005840"/>
          </a:xfrm>
          <a:prstGeom prst="roundRect">
            <a:avLst/>
          </a:prstGeom>
          <a:solidFill>
            <a:srgbClr val="22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6E4F0"/>
                </a:solidFill>
                <a:latin typeface="微软雅黑"/>
              </a:defRPr>
            </a:pPr>
            <a:r>
              <a:t>中文核心期刊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2344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67E22"/>
                </a:solidFill>
                <a:latin typeface="微软雅黑"/>
              </a:defRPr>
            </a:pPr>
            <a:r>
              <a:t>12篇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1945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B6"/>
                </a:solidFill>
                <a:latin typeface="微软雅黑"/>
              </a:defRPr>
            </a:pPr>
            <a:r>
              <a:t>中华系列杂志+中国指南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097280"/>
            <a:ext cx="2651760" cy="1005840"/>
          </a:xfrm>
          <a:prstGeom prst="roundRect">
            <a:avLst/>
          </a:prstGeom>
          <a:solidFill>
            <a:srgbClr val="22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6E4F0"/>
                </a:solidFill>
                <a:latin typeface="微软雅黑"/>
              </a:defRPr>
            </a:pPr>
            <a:r>
              <a:t>IF&gt;10论文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12344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E44AD"/>
                </a:solidFill>
                <a:latin typeface="微软雅黑"/>
              </a:defRPr>
            </a:pPr>
            <a:r>
              <a:t>8篇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1945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B6"/>
                </a:solidFill>
                <a:latin typeface="微软雅黑"/>
              </a:defRPr>
            </a:pPr>
            <a:r>
              <a:t>含NEJM 78.5/JCO 41.9等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926080"/>
            <a:ext cx="5486400" cy="36576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研究方向分布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474720"/>
            <a:ext cx="109728" cy="36576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474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6E4F0"/>
                </a:solidFill>
                <a:latin typeface="微软雅黑"/>
              </a:defRPr>
            </a:pPr>
            <a:r>
              <a:t>多发性骨髓瘤临床研究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4747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15篇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4747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E86DE"/>
                </a:solidFill>
                <a:latin typeface="微软雅黑"/>
              </a:defRPr>
            </a:pPr>
            <a:r>
              <a:t>46.9%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977639"/>
            <a:ext cx="109728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776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6E4F0"/>
                </a:solidFill>
                <a:latin typeface="微软雅黑"/>
              </a:defRPr>
            </a:pPr>
            <a:r>
              <a:t>淀粉样变性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97763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8篇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977639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E86DE"/>
                </a:solidFill>
                <a:latin typeface="微软雅黑"/>
              </a:defRPr>
            </a:pPr>
            <a:r>
              <a:t>25.0%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480560"/>
            <a:ext cx="109728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480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6E4F0"/>
                </a:solidFill>
                <a:latin typeface="微软雅黑"/>
              </a:defRPr>
            </a:pPr>
            <a:r>
              <a:t>CAR-T/细胞免疫治疗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4805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4篇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44805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E86DE"/>
                </a:solidFill>
                <a:latin typeface="微软雅黑"/>
              </a:defRPr>
            </a:pPr>
            <a:r>
              <a:t>12.5%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983480"/>
            <a:ext cx="109728" cy="3657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983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6E4F0"/>
                </a:solidFill>
                <a:latin typeface="微软雅黑"/>
              </a:defRPr>
            </a:pPr>
            <a:r>
              <a:t>指南/专家共识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4983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3篇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49834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E86DE"/>
                </a:solidFill>
                <a:latin typeface="微软雅黑"/>
              </a:defRPr>
            </a:pPr>
            <a:r>
              <a:t>9.4%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486400"/>
            <a:ext cx="109728" cy="365760"/>
          </a:xfrm>
          <a:prstGeom prst="rect">
            <a:avLst/>
          </a:prstGeom>
          <a:solidFill>
            <a:srgbClr val="95A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486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6E4F0"/>
                </a:solidFill>
                <a:latin typeface="微软雅黑"/>
              </a:defRPr>
            </a:pPr>
            <a:r>
              <a:t>基础研究/其他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54864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微软雅黑"/>
              </a:defRPr>
            </a:pPr>
            <a:r>
              <a:t>2篇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54864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E86DE"/>
                </a:solidFill>
                <a:latin typeface="微软雅黑"/>
              </a:defRPr>
            </a:pPr>
            <a:r>
              <a:t>6.2%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2926080"/>
            <a:ext cx="5486400" cy="3657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已有 AI 交叉研究基础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34747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6E4F0"/>
                </a:solidFill>
                <a:latin typeface="微软雅黑"/>
              </a:defRPr>
            </a:pPr>
            <a:r>
              <a:t>★ ML诊断工具（Ann Hematol, 2024）</a:t>
            </a:r>
            <a:br/>
            <a:r>
              <a:t>   首次利用机器学习开发AL淀粉样变性</a:t>
            </a:r>
            <a:br/>
            <a:r>
              <a:t>   快速诊断工具，基于常规检验数据</a:t>
            </a:r>
            <a:br/>
            <a:br/>
            <a:r>
              <a:t>★ 医生-AI交互研究（Blood, 2023）</a:t>
            </a:r>
            <a:br/>
            <a:r>
              <a:t>   评估AI临床决策支持系统在MM中的</a:t>
            </a:r>
            <a:br/>
            <a:r>
              <a:t>   应用价值与医生接受度</a:t>
            </a:r>
            <a:br/>
            <a:br/>
            <a:r>
              <a:t>★ APAC MRDR数据库（2024）</a:t>
            </a:r>
            <a:br/>
            <a:r>
              <a:t>   覆盖亚洲多中心的MM结构化数据资源</a:t>
            </a:r>
            <a:br/>
            <a:r>
              <a:t>   可直接用于AI模型训练与验证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AI + 血液肿瘤 · 技术趋势图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3566160" cy="45720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深度学习</a:t>
            </a:r>
            <a:br/>
            <a:r>
              <a:t>影像分析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6E4F0"/>
                </a:solidFill>
                <a:latin typeface="微软雅黑"/>
              </a:defRPr>
            </a:pPr>
            <a:r>
              <a:t>• 全身MRI骨骼分割 (Acad Radiol 2025)</a:t>
            </a:r>
            <a:br/>
            <a:r>
              <a:t>• 3D CNN分析MM (J Med Syst 2024)</a:t>
            </a:r>
            <a:br/>
            <a:r>
              <a:t>• 影像组学预测活检 (Invest Radiol 2023)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97280"/>
            <a:ext cx="356616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机器学习</a:t>
            </a:r>
            <a:br/>
            <a:r>
              <a:t>诊断预测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164592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6E4F0"/>
                </a:solidFill>
                <a:latin typeface="微软雅黑"/>
              </a:defRPr>
            </a:pPr>
            <a:r>
              <a:t>• LightGBM早筛AL淀粉样变性 (Blood 2023)</a:t>
            </a:r>
            <a:br/>
            <a:r>
              <a:t>• ML快速诊断工具 (Ann Hematol 2024)</a:t>
            </a:r>
            <a:br/>
            <a:r>
              <a:t>• AI多模态诊断模型 (Ann Hematol 2025)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097280"/>
            <a:ext cx="3566160" cy="4572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自然语言</a:t>
            </a:r>
            <a:br/>
            <a:r>
              <a:t>处理NLP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164592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6E4F0"/>
                </a:solidFill>
                <a:latin typeface="微软雅黑"/>
              </a:defRPr>
            </a:pPr>
            <a:r>
              <a:t>• NLP提取MM特征 (JCO Clin Cancer Inform 2024)</a:t>
            </a:r>
            <a:br/>
            <a:r>
              <a:t>• NLP全国EHR分析 (Blood 2025)</a:t>
            </a:r>
            <a:br/>
            <a:r>
              <a:t>• LLM辅助临床决策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40480"/>
            <a:ext cx="3566160" cy="4572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数字孪生</a:t>
            </a:r>
            <a:br/>
            <a:r>
              <a:t>强化学习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38912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6E4F0"/>
                </a:solidFill>
                <a:latin typeface="微软雅黑"/>
              </a:defRPr>
            </a:pPr>
            <a:r>
              <a:t>• AI+数字孪生MM (Blood Cancer J 2025)</a:t>
            </a:r>
            <a:br/>
            <a:r>
              <a:t>• 强化学习治疗方案推荐</a:t>
            </a:r>
            <a:br/>
            <a:r>
              <a:t>• 纵向AI事件预测 (npj Digital Med 2024)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840480"/>
            <a:ext cx="3566160" cy="4572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量子AI</a:t>
            </a:r>
            <a:br/>
            <a:r>
              <a:t>多组学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38912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6E4F0"/>
                </a:solidFill>
                <a:latin typeface="微软雅黑"/>
              </a:defRPr>
            </a:pPr>
            <a:r>
              <a:t>• 量子ML药物敏感性 (Brief Bioinform 2025)</a:t>
            </a:r>
            <a:br/>
            <a:r>
              <a:t>• 多组学ML疗效预测</a:t>
            </a:r>
            <a:br/>
            <a:r>
              <a:t>• 图神经网络药物响应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3840480"/>
            <a:ext cx="3566160" cy="45720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CAR-T+</a:t>
            </a:r>
            <a:br/>
            <a:r>
              <a:t>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438912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6E4F0"/>
                </a:solidFill>
                <a:latin typeface="微软雅黑"/>
              </a:defRPr>
            </a:pPr>
            <a:r>
              <a:t>• 全癌种CAR-T预测 (Nat Biomed Eng 2026)</a:t>
            </a:r>
            <a:br/>
            <a:r>
              <a:t>• AI优化CAR-T生产 (Front Mol Med 2023)</a:t>
            </a:r>
            <a:br/>
            <a:r>
              <a:t>• 自动细胞分选 (JCO 2024)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医工交叉 · 差异化课题建议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11430000" cy="365760"/>
          </a:xfrm>
          <a:prstGeom prst="roundRect">
            <a:avLst/>
          </a:prstGeom>
          <a:solidFill>
            <a:srgbClr val="22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E86DE"/>
                </a:solidFill>
                <a:latin typeface="微软雅黑"/>
              </a:defRPr>
            </a:pPr>
            <a:r>
              <a:t>路瑾教授独有数据资源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E86DE"/>
                </a:solidFill>
                <a:latin typeface="微软雅黑"/>
              </a:defRPr>
            </a:pPr>
            <a:r>
              <a:t>APAC MRDR数据库（中国区负责人）  |  Sonrotoclax t(11;14)临床试验（ongoing）  |  150例CAR-T真实世界队列  |  中国MM流行病学GBD数据  |  AL淀粉样变性多中心队列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920240"/>
            <a:ext cx="3611880" cy="82296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课题一</a:t>
            </a:r>
            <a:br/>
            <a:r>
              <a:t>AI驱动的AL淀粉样变性</a:t>
            </a:r>
            <a:br/>
            <a:r>
              <a:t>多模态早期诊断系统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834640"/>
            <a:ext cx="3611880" cy="3657600"/>
          </a:xfrm>
          <a:prstGeom prst="rect">
            <a:avLst/>
          </a:prstGeom>
          <a:solidFill>
            <a:srgbClr val="22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926080"/>
            <a:ext cx="3337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6E4F0"/>
                </a:solidFill>
                <a:latin typeface="微软雅黑"/>
              </a:defRPr>
            </a:pPr>
            <a:r>
              <a:t>【背景】AL淀粉样变性早期诊断率&lt;30%，</a:t>
            </a:r>
            <a:br/>
            <a:r>
              <a:t>路瑾团队已有ML诊断基础(Ann Hematol 2024)</a:t>
            </a:r>
            <a:br/>
            <a:br/>
            <a:r>
              <a:t>【AI方法】①多模态融合：检验+超声+ECG</a:t>
            </a:r>
            <a:br/>
            <a:r>
              <a:t>②深度学习特征提取+可解释性AI</a:t>
            </a:r>
            <a:br/>
            <a:r>
              <a:t>③对比Transformer/梯度提升/图网络</a:t>
            </a:r>
            <a:br/>
            <a:br/>
            <a:r>
              <a:t>【数据优势】路瑾团队&gt;500例AL队列</a:t>
            </a:r>
            <a:br/>
            <a:r>
              <a:t>含完整检验+超声+Holter+随访数据</a:t>
            </a:r>
            <a:br/>
            <a:br/>
            <a:r>
              <a:t>【目标产出】诊断软件原型 | 多中心验证</a:t>
            </a:r>
            <a:br/>
            <a:r>
              <a:t>专利1项 | Lancet Digital Health/NEJM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920240"/>
            <a:ext cx="3611880" cy="8229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课题二</a:t>
            </a:r>
            <a:br/>
            <a:r>
              <a:t>AI赋能t(11;14)亚型</a:t>
            </a:r>
            <a:br/>
            <a:r>
              <a:t>BCL-2抑制剂精准用药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2834640"/>
            <a:ext cx="3611880" cy="3657600"/>
          </a:xfrm>
          <a:prstGeom prst="rect">
            <a:avLst/>
          </a:prstGeom>
          <a:solidFill>
            <a:srgbClr val="22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2926080"/>
            <a:ext cx="3337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6E4F0"/>
                </a:solidFill>
                <a:latin typeface="微软雅黑"/>
              </a:defRPr>
            </a:pPr>
            <a:r>
              <a:t>【背景】Sonrotoclax(新一代BCL-2i)临床</a:t>
            </a:r>
            <a:br/>
            <a:r>
              <a:t>试验正在进行，但t(11;14)筛选标准粗放</a:t>
            </a:r>
            <a:br/>
            <a:br/>
            <a:r>
              <a:t>【AI方法】①单细胞转录组+蛋白质组学</a:t>
            </a:r>
            <a:br/>
            <a:r>
              <a:t>②图神经网络建模BCL-2通路互作</a:t>
            </a:r>
            <a:br/>
            <a:r>
              <a:t>③迁移学习整合公共数据库(COSMIC/GEO)</a:t>
            </a:r>
            <a:br/>
            <a:br/>
            <a:r>
              <a:t>【数据优势】路瑾团队直接负责Sonrotoclax</a:t>
            </a:r>
            <a:br/>
            <a:r>
              <a:t>临床试验，拥有独家用药队列生物样本</a:t>
            </a:r>
            <a:br/>
            <a:br/>
            <a:r>
              <a:t>【目标产出】用药决策模型 | 生物标志物</a:t>
            </a:r>
            <a:br/>
            <a:r>
              <a:t>专利 | Nature Cancer/Cancer Discovery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920240"/>
            <a:ext cx="3611880" cy="8229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课题三</a:t>
            </a:r>
            <a:br/>
            <a:r>
              <a:t>基于LLM+NLP的MM</a:t>
            </a:r>
            <a:br/>
            <a:r>
              <a:t>全程管理智能平台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834640"/>
            <a:ext cx="3611880" cy="3657600"/>
          </a:xfrm>
          <a:prstGeom prst="rect">
            <a:avLst/>
          </a:prstGeom>
          <a:solidFill>
            <a:srgbClr val="22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2926080"/>
            <a:ext cx="3337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6E4F0"/>
                </a:solidFill>
                <a:latin typeface="微软雅黑"/>
              </a:defRPr>
            </a:pPr>
            <a:r>
              <a:t>【背景】路瑾团队建有APAC MRDR亚洲注册</a:t>
            </a:r>
            <a:br/>
            <a:r>
              <a:t>数据库(2024)，但大量临床文本非结构化</a:t>
            </a:r>
            <a:br/>
            <a:br/>
            <a:r>
              <a:t>【AI方法】①LLM+NLP结构化临床文本</a:t>
            </a:r>
            <a:br/>
            <a:r>
              <a:t>②强化学习推荐动态治疗方案</a:t>
            </a:r>
            <a:br/>
            <a:r>
              <a:t>③时序模型预测疾病进展与复发</a:t>
            </a:r>
            <a:br/>
            <a:r>
              <a:t>④衰弱评估AI评分系统</a:t>
            </a:r>
            <a:br/>
            <a:br/>
            <a:r>
              <a:t>【数据优势】APAC MRDR：多中心结构化数据</a:t>
            </a:r>
            <a:br/>
            <a:r>
              <a:t>+非结构化病程/影像报告20万+份</a:t>
            </a:r>
            <a:br/>
            <a:br/>
            <a:r>
              <a:t>【目标产出】CDSS系统 | 多中心验证平台</a:t>
            </a:r>
            <a:br/>
            <a:r>
              <a:t>2-3篇论文 | NEJM AI/Nature Medicine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课题技术路线总览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1280160" cy="10972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数据层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1097280"/>
            <a:ext cx="3017520" cy="1097280"/>
          </a:xfrm>
          <a:prstGeom prst="roundRect">
            <a:avLst/>
          </a:prstGeom>
          <a:solidFill>
            <a:srgbClr val="22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6E4F0"/>
                </a:solidFill>
                <a:latin typeface="微软雅黑"/>
              </a:defRPr>
            </a:pPr>
            <a:r>
              <a:t>APAC MRDR</a:t>
            </a:r>
            <a:br/>
            <a:r>
              <a:t>数据库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1097280"/>
            <a:ext cx="3017520" cy="1097280"/>
          </a:xfrm>
          <a:prstGeom prst="roundRect">
            <a:avLst/>
          </a:prstGeom>
          <a:solidFill>
            <a:srgbClr val="22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6E4F0"/>
                </a:solidFill>
                <a:latin typeface="微软雅黑"/>
              </a:defRPr>
            </a:pPr>
            <a:r>
              <a:t>临床试验</a:t>
            </a:r>
            <a:br/>
            <a:r>
              <a:t>队列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1097280"/>
            <a:ext cx="3017520" cy="1097280"/>
          </a:xfrm>
          <a:prstGeom prst="roundRect">
            <a:avLst/>
          </a:prstGeom>
          <a:solidFill>
            <a:srgbClr val="22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6E4F0"/>
                </a:solidFill>
                <a:latin typeface="微软雅黑"/>
              </a:defRPr>
            </a:pPr>
            <a:r>
              <a:t>真实世界</a:t>
            </a:r>
            <a:br/>
            <a:r>
              <a:t>EHR数据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468880"/>
            <a:ext cx="1280160" cy="1097280"/>
          </a:xfrm>
          <a:prstGeom prst="round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模型层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2468880"/>
            <a:ext cx="3017520" cy="1097280"/>
          </a:xfrm>
          <a:prstGeom prst="roundRect">
            <a:avLst/>
          </a:prstGeom>
          <a:solidFill>
            <a:srgbClr val="22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6E4F0"/>
                </a:solidFill>
                <a:latin typeface="微软雅黑"/>
              </a:defRPr>
            </a:pPr>
            <a:r>
              <a:t>多模态DL</a:t>
            </a:r>
            <a:br/>
            <a:r>
              <a:t>(检验+影像)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2468880"/>
            <a:ext cx="3017520" cy="1097280"/>
          </a:xfrm>
          <a:prstGeom prst="roundRect">
            <a:avLst/>
          </a:prstGeom>
          <a:solidFill>
            <a:srgbClr val="22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6E4F0"/>
                </a:solidFill>
                <a:latin typeface="微软雅黑"/>
              </a:defRPr>
            </a:pPr>
            <a:r>
              <a:t>图神经网络</a:t>
            </a:r>
            <a:br/>
            <a:r>
              <a:t>(组学+通路)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2468880"/>
            <a:ext cx="3017520" cy="1097280"/>
          </a:xfrm>
          <a:prstGeom prst="roundRect">
            <a:avLst/>
          </a:prstGeom>
          <a:solidFill>
            <a:srgbClr val="22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6E4F0"/>
                </a:solidFill>
                <a:latin typeface="微软雅黑"/>
              </a:defRPr>
            </a:pPr>
            <a:r>
              <a:t>LLM+NLP</a:t>
            </a:r>
            <a:br/>
            <a:r>
              <a:t>(文本结构化)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840480"/>
            <a:ext cx="1280160" cy="10972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验证层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3840480"/>
            <a:ext cx="3017520" cy="1097280"/>
          </a:xfrm>
          <a:prstGeom prst="roundRect">
            <a:avLst/>
          </a:prstGeom>
          <a:solidFill>
            <a:srgbClr val="22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6E4F0"/>
                </a:solidFill>
                <a:latin typeface="微软雅黑"/>
              </a:defRPr>
            </a:pPr>
            <a:r>
              <a:t>内部验证</a:t>
            </a:r>
            <a:br/>
            <a:r>
              <a:t>(交叉验证)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0" y="3840480"/>
            <a:ext cx="3017520" cy="1097280"/>
          </a:xfrm>
          <a:prstGeom prst="roundRect">
            <a:avLst/>
          </a:prstGeom>
          <a:solidFill>
            <a:srgbClr val="22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6E4F0"/>
                </a:solidFill>
                <a:latin typeface="微软雅黑"/>
              </a:defRPr>
            </a:pPr>
            <a:r>
              <a:t>外部验证</a:t>
            </a:r>
            <a:br/>
            <a:r>
              <a:t>(多中心)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3840480"/>
            <a:ext cx="3017520" cy="1097280"/>
          </a:xfrm>
          <a:prstGeom prst="roundRect">
            <a:avLst/>
          </a:prstGeom>
          <a:solidFill>
            <a:srgbClr val="22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6E4F0"/>
                </a:solidFill>
                <a:latin typeface="微软雅黑"/>
              </a:defRPr>
            </a:pPr>
            <a:r>
              <a:t>前瞻性</a:t>
            </a:r>
            <a:br/>
            <a:r>
              <a:t>队列验证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5212080"/>
            <a:ext cx="1280160" cy="109728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转化层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5212080"/>
            <a:ext cx="3017520" cy="1097280"/>
          </a:xfrm>
          <a:prstGeom prst="roundRect">
            <a:avLst/>
          </a:prstGeom>
          <a:solidFill>
            <a:srgbClr val="22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6E4F0"/>
                </a:solidFill>
                <a:latin typeface="微软雅黑"/>
              </a:defRPr>
            </a:pPr>
            <a:r>
              <a:t>临床辅助</a:t>
            </a:r>
            <a:br/>
            <a:r>
              <a:t>诊断工具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94960" y="5212080"/>
            <a:ext cx="3017520" cy="1097280"/>
          </a:xfrm>
          <a:prstGeom prst="roundRect">
            <a:avLst/>
          </a:prstGeom>
          <a:solidFill>
            <a:srgbClr val="22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6E4F0"/>
                </a:solidFill>
                <a:latin typeface="微软雅黑"/>
              </a:defRPr>
            </a:pPr>
            <a:r>
              <a:t>精准用药</a:t>
            </a:r>
            <a:br/>
            <a:r>
              <a:t>CDSS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5212080"/>
            <a:ext cx="3017520" cy="1097280"/>
          </a:xfrm>
          <a:prstGeom prst="roundRect">
            <a:avLst/>
          </a:prstGeom>
          <a:solidFill>
            <a:srgbClr val="22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6E4F0"/>
                </a:solidFill>
                <a:latin typeface="微软雅黑"/>
              </a:defRPr>
            </a:pPr>
            <a:r>
              <a:t>全程管理</a:t>
            </a:r>
            <a:br/>
            <a:r>
              <a:t>智能平台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43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E86DE"/>
                </a:solidFill>
                <a:latin typeface="微软雅黑"/>
              </a:defRPr>
            </a:pPr>
            <a:r>
              <a:t>▲ 三课题共享同一技术架构（数据→模型→验证-&gt;转化），复用性强，可形成医工交叉"课题群"效应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执行路径与资源需求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solidFill>
            <a:srgbClr val="22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6E4F0"/>
                </a:solidFill>
                <a:latin typeface="微软雅黑"/>
              </a:defRPr>
            </a:pPr>
            <a:r>
              <a:t>第一阶段（1-6个月）——可行性验证</a:t>
            </a:r>
            <a:br/>
            <a:r>
              <a:t>• 数据清洗与标注（APAC MRDR + AL队列）</a:t>
            </a:r>
            <a:br/>
            <a:r>
              <a:t>• 基线ML模型开发（复现Ann Hematol 2024）</a:t>
            </a:r>
            <a:br/>
            <a:r>
              <a:t>• 撰写数据使用协议与伦理审批</a:t>
            </a:r>
            <a:br/>
            <a:br/>
            <a:r>
              <a:t>第二阶段（6-18个月）——模型开发</a:t>
            </a:r>
            <a:br/>
            <a:r>
              <a:t>• 多模态融合模型架构设计与训练</a:t>
            </a:r>
            <a:br/>
            <a:r>
              <a:t>• 图神经网络BCL-2通路建模</a:t>
            </a:r>
            <a:br/>
            <a:r>
              <a:t>• LLM微调用于中文临床文本结构化</a:t>
            </a:r>
            <a:br/>
            <a:br/>
            <a:r>
              <a:t>第三阶段（18-36个月）——转化落地</a:t>
            </a:r>
            <a:br/>
            <a:r>
              <a:t>• 多中心前瞻性验证研究设计</a:t>
            </a:r>
            <a:br/>
            <a:r>
              <a:t>• CDSS系统开发与临床部署</a:t>
            </a:r>
            <a:br/>
            <a:r>
              <a:t>• 高影响力论文撰写与专利申请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097280"/>
            <a:ext cx="5486400" cy="5029200"/>
          </a:xfrm>
          <a:prstGeom prst="rect">
            <a:avLst/>
          </a:prstGeom>
          <a:solidFill>
            <a:srgbClr val="223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801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6E4F0"/>
                </a:solidFill>
                <a:latin typeface="微软雅黑"/>
              </a:defRPr>
            </a:pPr>
            <a:r>
              <a:t>所需团队配置</a:t>
            </a:r>
            <a:br/>
            <a:br/>
            <a:r>
              <a:t>路瑾团队（临床侧）：</a:t>
            </a:r>
            <a:br/>
            <a:r>
              <a:t>  • 血液科医师 2-3人（数据标注+临床设计）</a:t>
            </a:r>
            <a:br/>
            <a:r>
              <a:t>  • 数据管理员 1人（数据库维护）</a:t>
            </a:r>
            <a:br/>
            <a:r>
              <a:t>  • 样本库管理员 1人（生物样本管理）</a:t>
            </a:r>
            <a:br/>
            <a:br/>
            <a:r>
              <a:t>AI团队（技术侧）：</a:t>
            </a:r>
            <a:br/>
            <a:r>
              <a:t>  • 深度学习工程师 2人（CV/多模态方向）</a:t>
            </a:r>
            <a:br/>
            <a:r>
              <a:t>  • NLP/LLM工程师 1-2人</a:t>
            </a:r>
            <a:br/>
            <a:r>
              <a:t>  • 生物信息学 1人（组学数据分析）</a:t>
            </a:r>
            <a:br/>
            <a:r>
              <a:t>  • 项目经理 1人</a:t>
            </a:r>
            <a:br/>
            <a:br/>
            <a:r>
              <a:t>资源需求：</a:t>
            </a:r>
            <a:br/>
            <a:r>
              <a:t>  • GPU服务器（A100/4090级别 2-4卡）</a:t>
            </a:r>
            <a:br/>
            <a:r>
              <a:t>  • 数据存储与隐私计算环境</a:t>
            </a:r>
            <a:br/>
            <a:r>
              <a:t>  • 伦理审查与数据使用协议</a:t>
            </a:r>
            <a:br/>
            <a:br/>
            <a:r>
              <a:t>预计成本：</a:t>
            </a:r>
            <a:br/>
            <a:r>
              <a:t>  • 第一阶段 ≈ 30-50万（人力+计算）</a:t>
            </a:r>
            <a:br/>
            <a:r>
              <a:t>  • 第二阶段 ≈ 80-120万（含多中心）</a:t>
            </a:r>
            <a:br/>
            <a:r>
              <a:t>  • 第三阶段 ≈ 100-200万（含临床部署）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微软雅黑"/>
              </a:defRPr>
            </a:pPr>
            <a:r>
              <a:t>感谢阅读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6E4F0"/>
                </a:solidFill>
                <a:latin typeface="微软雅黑"/>
              </a:defRPr>
            </a:pPr>
            <a:r>
              <a:t>数据来源：PubMed · 百度学术 · 北大人民医院官网 · Nature/NEJM/Lancet等</a:t>
            </a:r>
            <a:br/>
            <a:br/>
            <a:r>
              <a:t>三大课题均基于路瑾教授独有数据资源与临床痛点设计</a:t>
            </a:r>
            <a:br/>
            <a:r>
              <a:t>具备[数据优势 + 临床需求 + 技术可行性]三重驱动</a:t>
            </a:r>
            <a:br/>
            <a:br/>
            <a:r>
              <a:t>明天赴约建议：重点讨论课题一的AL淀粉样变性AI诊断（基础最扎实）</a:t>
            </a:r>
            <a:br/>
            <a:r>
              <a:t>并了解APAC MRDR数据库目前的数据开放程度与共享机制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5943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5A5B6"/>
                </a:solidFill>
                <a:latin typeface="微软雅黑"/>
              </a:defRPr>
            </a:pPr>
            <a:r>
              <a:t>AI医工交叉科研顾问  |  2026年5月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